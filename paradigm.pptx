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AI 교육 패러다임</a:t>
            </a:r>
          </a:p>
        </p:txBody>
      </p:sp>
      <p:sp>
        <p:nvSpPr>
          <p:cNvPr id="3" name="Subtitle 2"/>
          <p:cNvSpPr>
            <a:spLocks noGrp="1"/>
          </p:cNvSpPr>
          <p:nvPr>
            <p:ph type="subTitle" idx="1"/>
          </p:nvPr>
        </p:nvSpPr>
        <p:spPr/>
        <p:txBody>
          <a:bodyPr/>
          <a:lstStyle/>
          <a:p>
            <a:r>
              <a:t>제주도교육인수위원회 미래학력분과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배경 — AI는 이미 학생의 일상이다</a:t>
            </a:r>
          </a:p>
        </p:txBody>
      </p:sp>
      <p:sp>
        <p:nvSpPr>
          <p:cNvPr id="3" name="Content Placeholder 2"/>
          <p:cNvSpPr>
            <a:spLocks noGrp="1"/>
          </p:cNvSpPr>
          <p:nvPr>
            <p:ph idx="1"/>
          </p:nvPr>
        </p:nvSpPr>
        <p:spPr/>
        <p:txBody>
          <a:bodyPr/>
          <a:lstStyle/>
          <a:p>
            <a:pPr>
              <a:defRPr sz="1600"/>
            </a:pPr>
            <a:r>
              <a:t>검색·글쓰기·탐구·창작이 생성형 AI로 옮겨가면서 학생의 AI 사용은 예외가 아니라 일상이 되었다. 미국 청소년 중 학업에 ChatGPT를 사용한 비율은 2023년 13%에서 2024년 26%로 1년 만에 두 배가 되었고, 이 챗봇을 들어본 청소년은 79%에 이른다(Pew Research Center, 2025). 스탠퍼드 HAI의 「AI Index 2025」도 대학생의 약 5명 중 4명이 생성형 AI를 학습에 활용한다고 보고하는 한편, AI 사용 지침을 갖춘 중·고교는 절반에 그치고 지침이 명확하다고 답한 교사는 6%에 불과하다고 지적한다(Stanford HAI, 2025). 즉 학생의 사용은 이미 보편화됐으나 공교육의 준비는 뒤처져 있다.</a:t>
            </a:r>
          </a:p>
          <a:p>
            <a:pPr>
              <a:defRPr sz="1600"/>
            </a:pPr>
            <a:r>
              <a:t>그래서 질문은 'AI 교육을 할 것인가'가 아니라 '어떻게 할 것인가'로 이동한다. UNESCO는 첫 국제 지침에서 AI 교육의 중심을 기술이 아니라 인간 중심(human-centred) 관점에 두어야 하며, 학교는 AI 시스템의 윤리적·교육적 적절성을 검증하고 인간의 주체성(agency)·포용·형평을 지키는 방향으로 정책을 설계해야 한다고 권고한다(UNESCO,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문제의식 — '도구 조작'이 아니라 '활용·전환'</a:t>
            </a:r>
          </a:p>
        </p:txBody>
      </p:sp>
      <p:sp>
        <p:nvSpPr>
          <p:cNvPr id="3" name="Content Placeholder 2"/>
          <p:cNvSpPr>
            <a:spLocks noGrp="1"/>
          </p:cNvSpPr>
          <p:nvPr>
            <p:ph idx="1"/>
          </p:nvPr>
        </p:nvSpPr>
        <p:spPr/>
        <p:txBody>
          <a:bodyPr/>
          <a:lstStyle/>
          <a:p>
            <a:pPr>
              <a:defRPr sz="1600"/>
            </a:pPr>
            <a:r>
              <a:t>지금의 AI 교육은 흔히 특정 도구의 조작법을 가르치는 데 머문다. 그러나 AI 기술과 그 활용 양상은 빠르게 바뀌며(리터러시 중심 → 생성형 → 에이전트형), 조작법 중심 교육은 도구가 바뀌는 순간 낡는다. 반대로 AI를 활용해 교수·학습 자체를 바꾸는 힘은 모델이 바뀌어도 남는다.</a:t>
            </a:r>
          </a:p>
          <a:p>
            <a:pPr>
              <a:defRPr sz="1600"/>
            </a:pPr>
            <a:r>
              <a:t>이는 국제 표준의 방향과도 일치한다. UNESCO의 「학생을 위한 AI 역량 프레임워크」(2024)는 학생 역량을 이해(Understand) → 적용(Apply) → 창조(Create with AI)의 세 수준으로 위계화하고, 목표를 단순 사용자가 아니라 책임 있는 사용자이자 능동적 공동창작자(co-creator)로 기르는 데 둔다(UNESCO, 2024). 즉 관건은 무엇을 가르칠지(교육과정이 이미 규정)가 아니라 AI를 활용해 어떻게 더 잘 가르치고 배울 것인가다. 교육청이 새로 설계할 것은 콘텐츠가 아니라, 모델이 바뀌어도 남는 두 가지 토대다.</a:t>
            </a:r>
          </a:p>
          <a:p>
            <a:pPr>
              <a:defRPr sz="1600"/>
            </a:pPr>
            <a:r>
              <a:t>1. 토대 — 접근: 모든 교사·학생이 최고급 AI에 닿게 공적으로 보장한다(§2)</a:t>
            </a:r>
          </a:p>
          <a:p>
            <a:pPr>
              <a:defRPr sz="1600"/>
            </a:pPr>
            <a:r>
              <a:t>2. 핵심 — 활용: 그 위에서 교수(교사)·학습(학생)이 AI를 활용해 이루어지게 한다(§3)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토대 — 최고급 AI 접근의 공적 보장 (형평성)</a:t>
            </a:r>
          </a:p>
        </p:txBody>
      </p:sp>
      <p:sp>
        <p:nvSpPr>
          <p:cNvPr id="3" name="Content Placeholder 2"/>
          <p:cNvSpPr>
            <a:spLocks noGrp="1"/>
          </p:cNvSpPr>
          <p:nvPr>
            <p:ph idx="1"/>
          </p:nvPr>
        </p:nvSpPr>
        <p:spPr/>
        <p:txBody>
          <a:bodyPr/>
          <a:lstStyle/>
          <a:p>
            <a:pPr>
              <a:defRPr sz="1600"/>
            </a:pPr>
            <a:r>
              <a:t>목표: 모든 학생·교사에게 각자 연령대에 맞는 최고급 AI 접근을 공적으로 보장한다.</a:t>
            </a:r>
          </a:p>
          <a:p>
            <a:pPr>
              <a:defRPr sz="1600"/>
            </a:pPr>
            <a:r>
              <a:t>이유는 격차다. OECD는 디지털 격차를 기기·연결·기술·감당 가능성(affordability)의 불평등으로 규정하며, 사회경제적 배경과 지역(농·산·어촌 광대역 보급 등)에 따른 접근·활용 격차가 특히 취약계층에게 교육 불평등으로 이어진다고 분석한다(OECD, 2023). 나아가 OECD는 AI가 형평과 포용에 미치는 영향에서, 접근·설계가 형평을 고려하지 않으면 AI가 기존 격차를 오히려 확대할 수 있다고 경고한다(OECD, 2024). 가정의 결제 여부로 최신 AI 경험이 갈리면 '전 학생의 기본 AI 역량'이라는 목표 자체가 처음부터 무너진다.</a:t>
            </a:r>
          </a:p>
          <a:p>
            <a:pPr>
              <a:defRPr sz="1600"/>
            </a:pPr>
            <a:r>
              <a:t>UNESCO 역시 생성형 AI가 형평·포용·인간 주체성 등 핵심 가치를 위협할 수 있으므로 공적 보장과 규율이 필요하다고 본다(UNESCO, 2023). → 접근 보장은 시혜적 복지가 아니라 AI 교육의 토대다. (제주는 이 토대를 공공 AI 게이트웨이로 구현하는 방안을 별도로 설계한다.)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핵심 — AI를 활용한 교수·학습 (어떻게)</a:t>
            </a:r>
          </a:p>
        </p:txBody>
      </p:sp>
      <p:sp>
        <p:nvSpPr>
          <p:cNvPr id="3" name="Content Placeholder 2"/>
          <p:cNvSpPr>
            <a:spLocks noGrp="1"/>
          </p:cNvSpPr>
          <p:nvPr>
            <p:ph idx="1"/>
          </p:nvPr>
        </p:nvSpPr>
        <p:spPr/>
        <p:txBody>
          <a:bodyPr/>
          <a:lstStyle/>
          <a:p>
            <a:pPr>
              <a:defRPr sz="1600"/>
            </a:pPr>
            <a:r>
              <a:t>접근을 보장했다고 끝이 아니다. AI 교육의 핵심은 교사의 교수(敎授)와 학생의 학습(學習)이 모두 AI를 활용하는 형태로 바뀌는 것이다.</a:t>
            </a:r>
          </a:p>
          <a:p>
            <a:pPr>
              <a:defRPr sz="1600"/>
            </a:pPr>
            <a:r>
              <a:t>학생(학습): 질문·탐구·산출의 도구로 AI를 쓰며, 이해에서 창조로 나아간다 — UNESCO 학생 프레임워크의 'Create with AI' 수준(UNESCO, 2024).</a:t>
            </a:r>
          </a:p>
          <a:p>
            <a:pPr>
              <a:defRPr sz="1600"/>
            </a:pPr>
            <a:r>
              <a:t>교사(교수): 수업·자료·평가 설계와 학생별 피드백에 AI를 활용한다. UNESCO 「교사를 위한 AI 역량 프레임워크」(2024)는 교사 역량을 5개 영역·15개 역량으로 정의하며, 인간 주체성 강화를 핵심 원칙으로 삼는다(UNESCO,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이를 받치는 변화 — 평가와 교사 역할</a:t>
            </a:r>
          </a:p>
        </p:txBody>
      </p:sp>
      <p:sp>
        <p:nvSpPr>
          <p:cNvPr id="3" name="Content Placeholder 2"/>
          <p:cNvSpPr>
            <a:spLocks noGrp="1"/>
          </p:cNvSpPr>
          <p:nvPr>
            <p:ph idx="1"/>
          </p:nvPr>
        </p:nvSpPr>
        <p:spPr/>
        <p:txBody>
          <a:bodyPr/>
          <a:lstStyle/>
          <a:p>
            <a:pPr>
              <a:defRPr sz="1600"/>
            </a:pPr>
            <a:r>
              <a:t>위 역량은 두 가지가 함께 바뀌어야 살아난다.</a:t>
            </a:r>
          </a:p>
          <a:p>
            <a:pPr>
              <a:defRPr sz="1600"/>
            </a:pPr>
            <a:r>
              <a:t>평가의 전환. 학생이 AI로 결과물을 만드는 순간, 완성된 산출물에 점수를 매기는 방식은 실력을 가려내지 못한다. 학술 연구들은 생성형 AI 시대의 평가를 결과물(output)에서 과정·수행으로, 그리고 구술시험(viva)·발표 같은 대면·상호작용 평가와 실제 맥락의 수행평가(authentic assessment)로 옮길 것을 제안한다(Kofinas et al., 2025; Assessment &amp; Evaluation in Higher Education, 2026). 이는 과정·구술·재수행으로 진위와 실력을 확인하는 방향이다.</a:t>
            </a:r>
          </a:p>
          <a:p>
            <a:pPr>
              <a:defRPr sz="1600"/>
            </a:pPr>
            <a:r>
              <a:t>완전학습과의 연결. 블룸은 형성평가와 교정(corrective) 피드백을 결합하면 집단수업에서도 일대일 개인교습의 조건에 근접해 대부분의 학생이 숙달에 이른다고 보았고(Bloom, 1968), 이후 개인교습이 전통 수업보다 약 2 표준편차(2σ) 높은 성취를 낸다는 '2 시그마 문제'를 제기했다(Bloom, 1984). AI를 활용한 맞춤형 지도·과정 평가는 이 조건을 대규모로 구현할 현실적 수단이다.</a:t>
            </a:r>
          </a:p>
          <a:p>
            <a:pPr>
              <a:defRPr sz="1600"/>
            </a:pPr>
            <a:r>
              <a:t>교사 역할의 전환. AI가 지식 전달을 상당 부분 대신할 수 있게 되면, 교사의 역할은 지식 전달자에서 학생의 AI 활용을 이끄는 코치·촉진자로 이동한다. UNESCO 교사 프레임워크가 강조하는 인간 주체성·윤리 지도가 그 핵심이다(UNESCO, 2024). 이를 위해 교사의 행정 부담을 줄여 학생 코칭·수업 설계에 쓸 시간을 확보해야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참고문헌</a:t>
            </a:r>
          </a:p>
        </p:txBody>
      </p:sp>
      <p:sp>
        <p:nvSpPr>
          <p:cNvPr id="3" name="Content Placeholder 2"/>
          <p:cNvSpPr>
            <a:spLocks noGrp="1"/>
          </p:cNvSpPr>
          <p:nvPr>
            <p:ph idx="1"/>
          </p:nvPr>
        </p:nvSpPr>
        <p:spPr/>
        <p:txBody>
          <a:bodyPr/>
          <a:lstStyle/>
          <a:p>
            <a:pPr>
              <a:defRPr sz="1600"/>
            </a:pPr>
            <a:r>
              <a:t>1. Bloom, B. S. (1968). Learning for Mastery. Evaluation Comment, 1(2). — 형성평가·교정 피드백으로 개인교습 조건 재현.</a:t>
            </a:r>
          </a:p>
          <a:p>
            <a:pPr>
              <a:defRPr sz="1600"/>
            </a:pPr>
            <a:r>
              <a:t>2. Bloom, B. S. (1984). The 2 Sigma Problem: The Search for Methods of Group Instruction as Effective as One-to-One Tutoring. Educational Researcher, 13(6), 4–16.</a:t>
            </a:r>
          </a:p>
          <a:p>
            <a:pPr>
              <a:defRPr sz="1600"/>
            </a:pPr>
            <a:r>
              <a:t>3. UNESCO (2023). Guidance for Generative AI in Education and Research (F. Miao &amp; W. Holmes).</a:t>
            </a:r>
          </a:p>
          <a:p>
            <a:pPr>
              <a:defRPr sz="1600"/>
            </a:pPr>
            <a:r>
              <a:t>4. UNESCO (2024). AI Competency Framework for Students / for Teachers.</a:t>
            </a:r>
          </a:p>
          <a:p>
            <a:pPr>
              <a:defRPr sz="1600"/>
            </a:pPr>
            <a:r>
              <a:t>5. Pew Research Center (2025). About a quarter of U.S. teens have used ChatGPT for schoolwork — double the share in 2023.</a:t>
            </a:r>
          </a:p>
          <a:p>
            <a:pPr>
              <a:defRPr sz="1600"/>
            </a:pPr>
            <a:r>
              <a:t>6. Stanford HAI (2025). Artificial Intelligence Index Report 2025.</a:t>
            </a:r>
          </a:p>
          <a:p>
            <a:pPr>
              <a:defRPr sz="1600"/>
            </a:pPr>
            <a:r>
              <a:t>7. OECD (2023). Digital Equity and Inclusion in Education (OECD Education Working Paper No. 299).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참고문헌 (계속)</a:t>
            </a:r>
          </a:p>
        </p:txBody>
      </p:sp>
      <p:sp>
        <p:nvSpPr>
          <p:cNvPr id="3" name="Content Placeholder 2"/>
          <p:cNvSpPr>
            <a:spLocks noGrp="1"/>
          </p:cNvSpPr>
          <p:nvPr>
            <p:ph idx="1"/>
          </p:nvPr>
        </p:nvSpPr>
        <p:spPr/>
        <p:txBody>
          <a:bodyPr/>
          <a:lstStyle/>
          <a:p>
            <a:pPr>
              <a:defRPr sz="1600"/>
            </a:pPr>
            <a:r>
              <a:t>8. OECD (2024). The Potential Impact of Artificial Intelligence on Equity and Inclusion in Education (OECD Artificial Intelligence Papers).</a:t>
            </a:r>
          </a:p>
          <a:p>
            <a:pPr>
              <a:defRPr sz="1600"/>
            </a:pPr>
            <a:r>
              <a:t>9. Kofinas, A. K., et al. (2025). The impact of generative AI on academic integrity of authentic assessments within a higher education context. British Journal of Educational Technology.</a:t>
            </a:r>
          </a:p>
          <a:p>
            <a:pPr>
              <a:defRPr sz="1600"/>
            </a:pPr>
            <a:r>
              <a:t>10. Resilient assessment in the age of AI: authentic design and the case for verbal examinations. (2026). Assessment &amp; Evaluation in Higher Education.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