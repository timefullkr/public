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965960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공개 참고 문서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23160"/>
            <a:ext cx="96926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AX 전환과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343400"/>
            <a:ext cx="9692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7D5E2"/>
                </a:solidFill>
                <a:latin typeface="맑은 고딕"/>
                <a:ea typeface="맑은 고딕"/>
                <a:cs typeface="맑은 고딕"/>
              </a:rPr>
              <a:t>제주교육 AI · 미래학력분과 참고 자료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97880"/>
            <a:ext cx="2011680" cy="45720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053328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7D5E2"/>
                </a:solidFill>
                <a:latin typeface="맑은 고딕"/>
                <a:ea typeface="맑은 고딕"/>
                <a:cs typeface="맑은 고딕"/>
              </a:rPr>
              <a:t>제주도교육인수위원회 · 미래학력분과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2A44"/>
                </a:solidFill>
                <a:latin typeface="맑은 고딕"/>
                <a:ea typeface="맑은 고딕"/>
                <a:cs typeface="맑은 고딕"/>
              </a:rPr>
              <a:t>1. AX란 무엇인가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920240" cy="50292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업계에서 AX는 두 가지 의미로 통용된다.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AX 전환과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2A44"/>
                </a:solidFill>
                <a:latin typeface="맑은 고딕"/>
                <a:ea typeface="맑은 고딕"/>
                <a:cs typeface="맑은 고딕"/>
              </a:rPr>
              <a:t>1. AX란 무엇인가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16736"/>
            <a:ext cx="1920240" cy="50292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83080"/>
          <a:ext cx="10637215" cy="1572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45738"/>
                <a:gridCol w="3545738"/>
                <a:gridCol w="3545739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137160" marR="109728" marT="27432" marB="27432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의미</a:t>
                      </a:r>
                    </a:p>
                  </a:txBody>
                  <a:tcPr marL="137160" marR="109728" marT="27432" marB="27432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설명</a:t>
                      </a:r>
                    </a:p>
                  </a:txBody>
                  <a:tcPr marL="137160" marR="109728" marT="27432" marB="27432" anchor="ctr">
                    <a:solidFill>
                      <a:srgbClr val="0F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A3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전환(AI Transformation)</a:t>
                      </a:r>
                    </a:p>
                  </a:txBody>
                  <a:tcPr marL="137160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A3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체질 변화</a:t>
                      </a:r>
                    </a:p>
                  </a:txBody>
                  <a:tcPr marL="137160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A3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AI를 도구로 써서 조직의 일하는 방식·프로세스 전체를 근본적으로 재설계하는 흐름. 단순 자동화가 아님</a:t>
                      </a:r>
                    </a:p>
                  </a:txBody>
                  <a:tcPr marL="137160" marR="109728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A3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에이전트 경험(Agent Experience)</a:t>
                      </a:r>
                    </a:p>
                  </a:txBody>
                  <a:tcPr marL="137160" marR="109728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A3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상호작용 설계</a:t>
                      </a:r>
                    </a:p>
                  </a:txBody>
                  <a:tcPr marL="137160" marR="109728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A3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사용자가 AI 에이전트와 상호작용하는 방식을 설계하는 UX의 확장</a:t>
                      </a:r>
                    </a:p>
                  </a:txBody>
                  <a:tcPr marL="137160" marR="109728" marT="27432" marB="27432"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AX 전환과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2A44"/>
                </a:solidFill>
                <a:latin typeface="맑은 고딕"/>
                <a:ea typeface="맑은 고딕"/>
                <a:cs typeface="맑은 고딕"/>
              </a:rPr>
              <a:t>1. AX란 무엇인가 (계속)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920240" cy="50292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핵심 명제는 하나다. AX는 새 기술을 얼마나 빨리 도입하느냐가 아니라, 우리에게 맞는 것을 얼마나 정확히 선택·적용하느냐의 문제이며, 본질은 기술이 아니라 사람에 대한 이해다.…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AX 전환과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2A44"/>
                </a:solidFill>
                <a:latin typeface="맑은 고딕"/>
                <a:ea typeface="맑은 고딕"/>
                <a:cs typeface="맑은 고딕"/>
              </a:rPr>
              <a:t>2. 왜 교육에 AX인가 — '도구 도입'을 넘어 '전환'으로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920240" cy="50292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교육 현장의 AI도 "어떤 도구를 빨리 깔까"가 아니라 "우리 학교·교사·학생에게 무엇이 정말 필요한가"에서 출발해야 한다. 이는 AI 교육을 도구 조작이 아니라 교수·학습의 전환으로 보아야 한다는 관점과 같은 결이다.…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전환이 시급한 이유는 사용이 이미 보편화됐기 때문이다. 미국 청소년의 학업용 ChatGPT 사용은 2023년 13%에서 2024년 26%로 1년 만에 두 배가 됐고(Pew Research Center, 2025)…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AX 전환과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2A44"/>
                </a:solidFill>
                <a:latin typeface="맑은 고딕"/>
                <a:ea typeface="맑은 고딕"/>
                <a:cs typeface="맑은 고딕"/>
              </a:rPr>
              <a:t>3. 교육 AX의 두 걸림돌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920240" cy="50292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원 기사는 조직 AX의 두 걸림돌을 짚는다 — ① 구성원의 경계심, ② 도구 과잉. 둘 다 교육에 그대로 나타난다.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① 교사의 경계심 — '대체 우려'를 '슈퍼 교사'로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조직에서 직원은 AI 도입을 고용 위협으로 받아들이기 쉽다. AX는 기술 도입이 아니라 사람을 설득하는 과정이며, 직원을 대체하는 게 아니라 '슈퍼 전문가'로 거듭나게 돕는 접근이어야 한다(김예림, 2026). 교육도 같다.…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② 도구 과잉 — '에듀테크 홍수'를 '선택과 집중'으로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AI 툴이 쏟아지면 조직은 "무엇이 있고 무엇이 정말 필요한지" 판단을 못 해 중복 도입·의사결정 마비에 빠진다(김예림, 2026). 학교의 에듀테크 과잉이 정확히 이 문제다.…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AX 전환과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2A44"/>
                </a:solidFill>
                <a:latin typeface="맑은 고딕"/>
                <a:ea typeface="맑은 고딕"/>
                <a:cs typeface="맑은 고딕"/>
              </a:rPr>
              <a:t>4. 교육 AX의 실천 원칙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920240" cy="50292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사람 이해에서 출발(UX→AX). 교사·학생이 실제로 어떻게 가르치고 배우는지부터 파악한다. 기술 스펙이 아니라 사용 맥락이 먼저다(김예림, 2026).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프로세스 재설계. 수업 설계·자료·평가·피드백을 AI 위에서 다시 짠다. 완성 산출물 채점에서 과정·구술·수행 중심 평가로 옮기는 것이 대표적이다(Kofinas et al., 2025).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형평을 전환의 전제로. AX가 격차를 벌리지 않도록 최고급 AI 접근을 공적으로 보장한다. 디지털 격차는 기기·연결·기술·감당 가능성의 불평등이며, 취약계층에 특히 불리하다(OECD, 2023).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거버넌스·윤리 동반. 데이터 보호, 연령 기준, 인간 주체성 등 인간 중심 규율을 함께 설계한다(UNESCO, 2023).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AX 전환과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2A44"/>
                </a:solidFill>
                <a:latin typeface="맑은 고딕"/>
                <a:ea typeface="맑은 고딕"/>
                <a:cs typeface="맑은 고딕"/>
              </a:rPr>
              <a:t>5. 제주교육에의 적용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920240" cy="50292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인프라(AX의 토대): 검증된 소수 모델을 공적으로 보장하는 공공 AI 교육 플랫폼으로 도구 과잉·격차 문제를 동시에 다룬다.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교사 AX: 행정 부담을 줄여 확보한 시간을 수업 설계·학생 코칭에 쓰게 하여 '슈퍼 교사'로의 전환을 지원한다.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학생 AX: 성장 이력 기반의 맞춤 학습·과정 평가로, 블룸이 제기한 '2 시그마' 조건을 대규모로 구현하는 방향으로 나아간다(Bloom, 1984).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한 줄 결론: 교육의 AX는 '어떤 AI를 깔 것인가'가 아니라, 교사·학생이라는 사람에 대한 이해에서 출발해 교수·학습의 프로세스를 형평하게 재설계하는 일이다.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AX 전환과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2A44"/>
                </a:solidFill>
                <a:latin typeface="맑은 고딕"/>
                <a:ea typeface="맑은 고딕"/>
                <a:cs typeface="맑은 고딕"/>
              </a:rPr>
              <a:t>용어 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16736"/>
            <a:ext cx="1920240" cy="50292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83080"/>
          <a:ext cx="10637215" cy="3584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18607"/>
                <a:gridCol w="5318608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용어</a:t>
                      </a:r>
                    </a:p>
                  </a:txBody>
                  <a:tcPr marL="137160" marR="109728" marT="27432" marB="27432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뜻</a:t>
                      </a:r>
                    </a:p>
                  </a:txBody>
                  <a:tcPr marL="137160" marR="109728" marT="27432" marB="27432" anchor="ctr">
                    <a:solidFill>
                      <a:srgbClr val="0F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A3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AX</a:t>
                      </a:r>
                    </a:p>
                  </a:txBody>
                  <a:tcPr marL="137160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A3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Transformation(AI 전환) 또는 Agent Experience(에이전트 경험). 업계에서 두 의미로 통용</a:t>
                      </a:r>
                    </a:p>
                  </a:txBody>
                  <a:tcPr marL="137160" marR="109728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A3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전환</a:t>
                      </a:r>
                    </a:p>
                  </a:txBody>
                  <a:tcPr marL="137160" marR="109728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A3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AI로 조직의 일하는 방식·프로세스 전체를 근본적으로 재설계하는 흐름(단순 자동화 아님)</a:t>
                      </a:r>
                    </a:p>
                  </a:txBody>
                  <a:tcPr marL="137160" marR="109728" marT="27432" marB="27432" anchor="ctr">
                    <a:solidFill>
                      <a:srgbClr val="F3F6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A3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에이전트 경험</a:t>
                      </a:r>
                    </a:p>
                  </a:txBody>
                  <a:tcPr marL="137160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A3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사용자가 AI 에이전트와 상호작용하는 방식을 설계하는 UX의 확장</a:t>
                      </a:r>
                    </a:p>
                  </a:txBody>
                  <a:tcPr marL="137160" marR="109728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A3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UX</a:t>
                      </a:r>
                    </a:p>
                  </a:txBody>
                  <a:tcPr marL="137160" marR="109728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A3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User Experience(사용자 경험 설계). AX의 모태 — 대상이 고객에서 조직 구성원으로 확장</a:t>
                      </a:r>
                    </a:p>
                  </a:txBody>
                  <a:tcPr marL="137160" marR="109728" marT="27432" marB="27432" anchor="ctr">
                    <a:solidFill>
                      <a:srgbClr val="F3F6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A3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슈퍼 전문가 / 슈퍼 교사</a:t>
                      </a:r>
                    </a:p>
                  </a:txBody>
                  <a:tcPr marL="137160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A3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AI에 대체되는 것이 아니라, AI를 활용해 역량이 증폭된 전문가(교사)</a:t>
                      </a:r>
                    </a:p>
                  </a:txBody>
                  <a:tcPr marL="137160" marR="109728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A3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도구 과잉</a:t>
                      </a:r>
                    </a:p>
                  </a:txBody>
                  <a:tcPr marL="137160" marR="109728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A3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툴이 쏟아져 무엇이 필요한지 판단이 어려워지는 상태 → 중복 도입·의사결정 마비 유발</a:t>
                      </a:r>
                    </a:p>
                  </a:txBody>
                  <a:tcPr marL="137160" marR="109728" marT="27432" marB="27432"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AX 전환과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2A44"/>
                </a:solidFill>
                <a:latin typeface="맑은 고딕"/>
                <a:ea typeface="맑은 고딕"/>
                <a:cs typeface="맑은 고딕"/>
              </a:rPr>
              <a:t>참고문헌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920240" cy="50292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1. 김예림 (2026). 「'AX 전환'의 시대, 도대체 AX가 뭐길래?」. 한빛출판네트워크 IT북스페셜.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2. UNESCO (2023). Guidance for Generative AI in Education and Research (F. Miao &amp; W. Holmes).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3. UNESCO (2024). AI Competency Framework for Teachers / for Students.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4. Pew Research Center (2025). About a quarter of U.S. teens have used ChatGPT for schoolwork — double the share in 2023.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5. Stanford HAI (2025). Artificial Intelligence Index Report 2025.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AX 전환과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2A44"/>
                </a:solidFill>
                <a:latin typeface="맑은 고딕"/>
                <a:ea typeface="맑은 고딕"/>
                <a:cs typeface="맑은 고딕"/>
              </a:rPr>
              <a:t>참고문헌 (계속)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920240" cy="50292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6. OECD (2023). Digital Equity and Inclusion in Education (OECD Education Working Paper No. 299).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7. OECD (2024). The Potential Impact of Artificial Intelligence on Equity and Inclusion in Education.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8. Kofinas, A. K., et al. (2025). The impact of generative AI on academic integrity of authentic assessments within a higher education context.…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9. Bloom, B. S. (1984). The 2 Sigma Problem. Educational Researcher, 13(6), 4–16.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AX 전환과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