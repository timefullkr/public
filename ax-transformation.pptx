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AX 전환과 교육</a:t>
            </a:r>
          </a:p>
        </p:txBody>
      </p:sp>
      <p:sp>
        <p:nvSpPr>
          <p:cNvPr id="3" name="Subtitle 2"/>
          <p:cNvSpPr>
            <a:spLocks noGrp="1"/>
          </p:cNvSpPr>
          <p:nvPr>
            <p:ph type="subTitle" idx="1"/>
          </p:nvPr>
        </p:nvSpPr>
        <p:spPr/>
        <p:txBody>
          <a:bodyPr/>
          <a:lstStyle/>
          <a:p>
            <a:r>
              <a:t>제주도교육인수위원회 미래학력분과</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AX란 무엇인가</a:t>
            </a:r>
          </a:p>
        </p:txBody>
      </p:sp>
      <p:sp>
        <p:nvSpPr>
          <p:cNvPr id="3" name="Content Placeholder 2"/>
          <p:cNvSpPr>
            <a:spLocks noGrp="1"/>
          </p:cNvSpPr>
          <p:nvPr>
            <p:ph idx="1"/>
          </p:nvPr>
        </p:nvSpPr>
        <p:spPr/>
        <p:txBody>
          <a:bodyPr/>
          <a:lstStyle/>
          <a:p>
            <a:pPr>
              <a:defRPr sz="1600"/>
            </a:pPr>
            <a:r>
              <a:t>업계에서 AX는 두 가지 의미로 통용된다.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AX란 무엇인가</a:t>
            </a:r>
          </a:p>
        </p:txBody>
      </p:sp>
      <p:graphicFrame>
        <p:nvGraphicFramePr>
          <p:cNvPr id="3" name="Table 2"/>
          <p:cNvGraphicFramePr>
            <a:graphicFrameLocks noGrp="1"/>
          </p:cNvGraphicFramePr>
          <p:nvPr/>
        </p:nvGraphicFramePr>
        <p:xfrm>
          <a:off x="365760" y="1188720"/>
          <a:ext cx="8412480" cy="1097280"/>
        </p:xfrm>
        <a:graphic>
          <a:graphicData uri="http://schemas.openxmlformats.org/drawingml/2006/table">
            <a:tbl>
              <a:tblPr firstRow="1" bandRow="1">
                <a:tableStyleId>{5C22544A-7EE6-4342-B048-85BDC9FD1C3A}</a:tableStyleId>
              </a:tblPr>
              <a:tblGrid>
                <a:gridCol w="2804160"/>
                <a:gridCol w="2804160"/>
                <a:gridCol w="2804160"/>
              </a:tblGrid>
              <a:tr h="365760">
                <a:tc>
                  <a:txBody>
                    <a:bodyPr/>
                    <a:lstStyle/>
                    <a:p>
                      <a:pPr>
                        <a:defRPr sz="1100" b="1"/>
                      </a:pPr>
                      <a:r>
                        <a:t>구분</a:t>
                      </a:r>
                    </a:p>
                  </a:txBody>
                  <a:tcPr/>
                </a:tc>
                <a:tc>
                  <a:txBody>
                    <a:bodyPr/>
                    <a:lstStyle/>
                    <a:p>
                      <a:pPr>
                        <a:defRPr sz="1100" b="1"/>
                      </a:pPr>
                      <a:r>
                        <a:t>의미</a:t>
                      </a:r>
                    </a:p>
                  </a:txBody>
                  <a:tcPr/>
                </a:tc>
                <a:tc>
                  <a:txBody>
                    <a:bodyPr/>
                    <a:lstStyle/>
                    <a:p>
                      <a:pPr>
                        <a:defRPr sz="1100" b="1"/>
                      </a:pPr>
                      <a:r>
                        <a:t>설명</a:t>
                      </a:r>
                    </a:p>
                  </a:txBody>
                  <a:tcPr/>
                </a:tc>
              </a:tr>
              <a:tr h="365760">
                <a:tc>
                  <a:txBody>
                    <a:bodyPr/>
                    <a:lstStyle/>
                    <a:p>
                      <a:pPr>
                        <a:defRPr sz="1100"/>
                      </a:pPr>
                      <a:r>
                        <a:t>AI 전환(AI Transformation)</a:t>
                      </a:r>
                    </a:p>
                  </a:txBody>
                  <a:tcPr/>
                </a:tc>
                <a:tc>
                  <a:txBody>
                    <a:bodyPr/>
                    <a:lstStyle/>
                    <a:p>
                      <a:pPr>
                        <a:defRPr sz="1100"/>
                      </a:pPr>
                      <a:r>
                        <a:t>체질 변화</a:t>
                      </a:r>
                    </a:p>
                  </a:txBody>
                  <a:tcPr/>
                </a:tc>
                <a:tc>
                  <a:txBody>
                    <a:bodyPr/>
                    <a:lstStyle/>
                    <a:p>
                      <a:pPr>
                        <a:defRPr sz="1100"/>
                      </a:pPr>
                      <a:r>
                        <a:t>AI를 도구로 써서 조직의 일하는 방식·프로세스 전체를 근본적으로 재설계하는 흐름. 단순 자동화가 아님</a:t>
                      </a:r>
                    </a:p>
                  </a:txBody>
                  <a:tcPr/>
                </a:tc>
              </a:tr>
              <a:tr h="365760">
                <a:tc>
                  <a:txBody>
                    <a:bodyPr/>
                    <a:lstStyle/>
                    <a:p>
                      <a:pPr>
                        <a:defRPr sz="1100"/>
                      </a:pPr>
                      <a:r>
                        <a:t>에이전트 경험(Agent Experience)</a:t>
                      </a:r>
                    </a:p>
                  </a:txBody>
                  <a:tcPr/>
                </a:tc>
                <a:tc>
                  <a:txBody>
                    <a:bodyPr/>
                    <a:lstStyle/>
                    <a:p>
                      <a:pPr>
                        <a:defRPr sz="1100"/>
                      </a:pPr>
                      <a:r>
                        <a:t>상호작용 설계</a:t>
                      </a:r>
                    </a:p>
                  </a:txBody>
                  <a:tcPr/>
                </a:tc>
                <a:tc>
                  <a:txBody>
                    <a:bodyPr/>
                    <a:lstStyle/>
                    <a:p>
                      <a:pPr>
                        <a:defRPr sz="1100"/>
                      </a:pPr>
                      <a:r>
                        <a:t>사용자가 AI 에이전트와 상호작용하는 방식을 설계하는 UX의 확장</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AX란 무엇인가</a:t>
            </a:r>
          </a:p>
        </p:txBody>
      </p:sp>
      <p:sp>
        <p:nvSpPr>
          <p:cNvPr id="3" name="Content Placeholder 2"/>
          <p:cNvSpPr>
            <a:spLocks noGrp="1"/>
          </p:cNvSpPr>
          <p:nvPr>
            <p:ph idx="1"/>
          </p:nvPr>
        </p:nvSpPr>
        <p:spPr/>
        <p:txBody>
          <a:bodyPr/>
          <a:lstStyle/>
          <a:p>
            <a:pPr>
              <a:defRPr sz="1600"/>
            </a:pPr>
            <a:r>
              <a:t>핵심 명제는 하나다. AX는 새 기술을 얼마나 빨리 도입하느냐가 아니라, 우리에게 맞는 것을 얼마나 정확히 선택·적용하느냐의 문제이며, 본질은 기술이 아니라 사람에 대한 이해다. AX가 UX(사용자 경험 설계)와 닮은 이유가 여기 있다 — 대상이 고객에서 조직 구성원으로 확장됐을 뿐, "사람이 실제로 어떻게 일하는가"를 먼저 이해해야 기술이 효과를 낸다(김예림,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왜 교육에 AX인가 — '도구 도입'을 넘어 '전환'으로</a:t>
            </a:r>
          </a:p>
        </p:txBody>
      </p:sp>
      <p:sp>
        <p:nvSpPr>
          <p:cNvPr id="3" name="Content Placeholder 2"/>
          <p:cNvSpPr>
            <a:spLocks noGrp="1"/>
          </p:cNvSpPr>
          <p:nvPr>
            <p:ph idx="1"/>
          </p:nvPr>
        </p:nvSpPr>
        <p:spPr/>
        <p:txBody>
          <a:bodyPr/>
          <a:lstStyle/>
          <a:p>
            <a:pPr>
              <a:defRPr sz="1600"/>
            </a:pPr>
            <a:r>
              <a:t>교육 현장의 AI도 "어떤 도구를 빨리 깔까"가 아니라 "우리 학교·교사·학생에게 무엇이 정말 필요한가"에서 출발해야 한다. 이는 AI 교육을 도구 조작이 아니라 교수·학습의 전환으로 보아야 한다는 관점과 같은 결이다. UNESCO도 첫 국제 지침에서 AI 교육의 중심을 기술이 아니라 인간 중심(human-centred) 관점에 두고, 교육적 적절성을 검증하며 인간 주체성·형평을 지키도록 권고한다(UNESCO, 2023).</a:t>
            </a:r>
          </a:p>
          <a:p>
            <a:pPr>
              <a:defRPr sz="1600"/>
            </a:pPr>
            <a:r>
              <a:t>전환이 시급한 이유는 사용이 이미 보편화됐기 때문이다. 미국 청소년의 학업용 ChatGPT 사용은 2023년 13%에서 2024년 26%로 1년 만에 두 배가 됐고(Pew Research Center, 2025), 스탠퍼드 「AI Index 2025」는 대학생의 약 5명 중 4명이 생성형 AI를 학습에 쓰는 반면 AI 지침을 갖춘 학교는 절반, 지침이 명확하다는 교사는 6%에 불과하다고 지적한다(Stanford HAI, 2025). 학생은 이미 AX 시대를 살고 있으나, 학교 조직은 아직 전환되지 않았다. 도구 도입 속도가 아니라 조직·프로세스 전환이 과제인 이유다.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교육 AX의 두 걸림돌</a:t>
            </a:r>
          </a:p>
        </p:txBody>
      </p:sp>
      <p:sp>
        <p:nvSpPr>
          <p:cNvPr id="3" name="Content Placeholder 2"/>
          <p:cNvSpPr>
            <a:spLocks noGrp="1"/>
          </p:cNvSpPr>
          <p:nvPr>
            <p:ph idx="1"/>
          </p:nvPr>
        </p:nvSpPr>
        <p:spPr/>
        <p:txBody>
          <a:bodyPr/>
          <a:lstStyle/>
          <a:p>
            <a:pPr>
              <a:defRPr sz="1600"/>
            </a:pPr>
            <a:r>
              <a:t>원 기사는 조직 AX의 두 걸림돌을 짚는다 — ① 구성원의 경계심, ② 도구 과잉. 둘 다 교육에 그대로 나타난다.</a:t>
            </a:r>
          </a:p>
          <a:p>
            <a:pPr>
              <a:defRPr b="1" sz="1800"/>
            </a:pPr>
            <a:r>
              <a:t>① 교사의 경계심 — '대체 우려'를 '슈퍼 교사'로</a:t>
            </a:r>
          </a:p>
          <a:p>
            <a:pPr>
              <a:defRPr sz="1600"/>
            </a:pPr>
            <a:r>
              <a:t>조직에서 직원은 AI 도입을 고용 위협으로 받아들이기 쉽다. AX는 기술 도입이 아니라 사람을 설득하는 과정이며, 직원을 대체하는 게 아니라 '슈퍼 전문가'로 거듭나게 돕는 접근이어야 한다(김예림, 2026). 교육도 같다. 교사의 대체 우려를 줄이고 AI로 역량이 증폭된 '슈퍼 교사'로 성장하도록 프레임을 잡아야 한다. UNESCO 「교사를 위한 AI 역량 프레임워크」(2024)도 교사 역량의 핵심 원칙을 인간 주체성 강화에 두어, 교사를 AI에 밀려나는 존재가 아니라 AI를 이끄는 주체로 규정한다(UNESCO, 2024).</a:t>
            </a:r>
          </a:p>
          <a:p>
            <a:pPr>
              <a:defRPr b="1" sz="1800"/>
            </a:pPr>
            <a:r>
              <a:t>② 도구 과잉 — '에듀테크 홍수'를 '선택과 집중'으로</a:t>
            </a:r>
          </a:p>
          <a:p>
            <a:pPr>
              <a:defRPr sz="1600"/>
            </a:pPr>
            <a:r>
              <a:t>AI 툴이 쏟아지면 조직은 "무엇이 있고 무엇이 정말 필요한지" 판단을 못 해 중복 도입·의사결정 마비에 빠진다(김예림, 2026). 학교의 에듀테크 과잉이 정확히 이 문제다. 해법은 검증된 소수 도구로 집중하고, 도입을 학교·교사가 실제 필요에 따라 선택하도록 하는 것이다. 나아가 이 선택이 형평을 해치지 않도록 공적 접근 기반 위에서 이뤄져야 한다 — AI가 형평을 고려하지 않으면 기존 격차를 오히려 키운다(OECD,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교육 AX의 실천 원칙</a:t>
            </a:r>
          </a:p>
        </p:txBody>
      </p:sp>
      <p:sp>
        <p:nvSpPr>
          <p:cNvPr id="3" name="Content Placeholder 2"/>
          <p:cNvSpPr>
            <a:spLocks noGrp="1"/>
          </p:cNvSpPr>
          <p:nvPr>
            <p:ph idx="1"/>
          </p:nvPr>
        </p:nvSpPr>
        <p:spPr/>
        <p:txBody>
          <a:bodyPr/>
          <a:lstStyle/>
          <a:p>
            <a:pPr>
              <a:defRPr sz="1600"/>
            </a:pPr>
            <a:r>
              <a:t>사람 이해에서 출발(UX→AX). 교사·학생이 실제로 어떻게 가르치고 배우는지부터 파악한다. 기술 스펙이 아니라 사용 맥락이 먼저다(김예림, 2026).</a:t>
            </a:r>
          </a:p>
          <a:p>
            <a:pPr>
              <a:defRPr sz="1600"/>
            </a:pPr>
            <a:r>
              <a:t>프로세스 재설계. 수업 설계·자료·평가·피드백을 AI 위에서 다시 짠다. 완성 산출물 채점에서 과정·구술·수행 중심 평가로 옮기는 것이 대표적이다(Kofinas et al., 2025).</a:t>
            </a:r>
          </a:p>
          <a:p>
            <a:pPr>
              <a:defRPr sz="1600"/>
            </a:pPr>
            <a:r>
              <a:t>형평을 전환의 전제로. AX가 격차를 벌리지 않도록 최고급 AI 접근을 공적으로 보장한다. 디지털 격차는 기기·연결·기술·감당 가능성의 불평등이며, 취약계층에 특히 불리하다(OECD, 2023).</a:t>
            </a:r>
          </a:p>
          <a:p>
            <a:pPr>
              <a:defRPr sz="1600"/>
            </a:pPr>
            <a:r>
              <a:t>거버넌스·윤리 동반. 데이터 보호, 연령 기준, 인간 주체성 등 인간 중심 규율을 함께 설계한다(UNESCO,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제주교육에의 적용</a:t>
            </a:r>
          </a:p>
        </p:txBody>
      </p:sp>
      <p:sp>
        <p:nvSpPr>
          <p:cNvPr id="3" name="Content Placeholder 2"/>
          <p:cNvSpPr>
            <a:spLocks noGrp="1"/>
          </p:cNvSpPr>
          <p:nvPr>
            <p:ph idx="1"/>
          </p:nvPr>
        </p:nvSpPr>
        <p:spPr/>
        <p:txBody>
          <a:bodyPr/>
          <a:lstStyle/>
          <a:p>
            <a:pPr>
              <a:defRPr sz="1600"/>
            </a:pPr>
            <a:r>
              <a:t>인프라(AX의 토대): 검증된 소수 모델을 공적으로 보장하는 공공 AI 교육 플랫폼으로 도구 과잉·격차 문제를 동시에 다룬다.</a:t>
            </a:r>
          </a:p>
          <a:p>
            <a:pPr>
              <a:defRPr sz="1600"/>
            </a:pPr>
            <a:r>
              <a:t>교사 AX: 행정 부담을 줄여 확보한 시간을 수업 설계·학생 코칭에 쓰게 하여 '슈퍼 교사'로의 전환을 지원한다.</a:t>
            </a:r>
          </a:p>
          <a:p>
            <a:pPr>
              <a:defRPr sz="1600"/>
            </a:pPr>
            <a:r>
              <a:t>학생 AX: 성장 이력 기반의 맞춤 학습·과정 평가로, 블룸이 제기한 '2 시그마' 조건을 대규모로 구현하는 방향으로 나아간다(Bloom, 1984).</a:t>
            </a:r>
          </a:p>
          <a:p>
            <a:pPr>
              <a:defRPr sz="1600"/>
            </a:pPr>
            <a:r>
              <a:t>한 줄 결론: 교육의 AX는 '어떤 AI를 깔 것인가'가 아니라, 교사·학생이라는 사람에 대한 이해에서 출발해 교수·학습의 프로세스를 형평하게 재설계하는 일이다.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용어 정리</a:t>
            </a:r>
          </a:p>
        </p:txBody>
      </p:sp>
      <p:graphicFrame>
        <p:nvGraphicFramePr>
          <p:cNvPr id="3" name="Table 2"/>
          <p:cNvGraphicFramePr>
            <a:graphicFrameLocks noGrp="1"/>
          </p:cNvGraphicFramePr>
          <p:nvPr/>
        </p:nvGraphicFramePr>
        <p:xfrm>
          <a:off x="365760" y="1188720"/>
          <a:ext cx="8412480" cy="2560320"/>
        </p:xfrm>
        <a:graphic>
          <a:graphicData uri="http://schemas.openxmlformats.org/drawingml/2006/table">
            <a:tbl>
              <a:tblPr firstRow="1" bandRow="1">
                <a:tableStyleId>{5C22544A-7EE6-4342-B048-85BDC9FD1C3A}</a:tableStyleId>
              </a:tblPr>
              <a:tblGrid>
                <a:gridCol w="4206240"/>
                <a:gridCol w="4206240"/>
              </a:tblGrid>
              <a:tr h="365760">
                <a:tc>
                  <a:txBody>
                    <a:bodyPr/>
                    <a:lstStyle/>
                    <a:p>
                      <a:pPr>
                        <a:defRPr sz="1100" b="1"/>
                      </a:pPr>
                      <a:r>
                        <a:t>용어</a:t>
                      </a:r>
                    </a:p>
                  </a:txBody>
                  <a:tcPr/>
                </a:tc>
                <a:tc>
                  <a:txBody>
                    <a:bodyPr/>
                    <a:lstStyle/>
                    <a:p>
                      <a:pPr>
                        <a:defRPr sz="1100" b="1"/>
                      </a:pPr>
                      <a:r>
                        <a:t>뜻</a:t>
                      </a:r>
                    </a:p>
                  </a:txBody>
                  <a:tcPr/>
                </a:tc>
              </a:tr>
              <a:tr h="365760">
                <a:tc>
                  <a:txBody>
                    <a:bodyPr/>
                    <a:lstStyle/>
                    <a:p>
                      <a:pPr>
                        <a:defRPr sz="1100"/>
                      </a:pPr>
                      <a:r>
                        <a:t>AX</a:t>
                      </a:r>
                    </a:p>
                  </a:txBody>
                  <a:tcPr/>
                </a:tc>
                <a:tc>
                  <a:txBody>
                    <a:bodyPr/>
                    <a:lstStyle/>
                    <a:p>
                      <a:pPr>
                        <a:defRPr sz="1100"/>
                      </a:pPr>
                      <a:r>
                        <a:t>AI Transformation(AI 전환) 또는 Agent Experience(에이전트 경험). 업계에서 두 의미로 통용</a:t>
                      </a:r>
                    </a:p>
                  </a:txBody>
                  <a:tcPr/>
                </a:tc>
              </a:tr>
              <a:tr h="365760">
                <a:tc>
                  <a:txBody>
                    <a:bodyPr/>
                    <a:lstStyle/>
                    <a:p>
                      <a:pPr>
                        <a:defRPr sz="1100"/>
                      </a:pPr>
                      <a:r>
                        <a:t>AI 전환</a:t>
                      </a:r>
                    </a:p>
                  </a:txBody>
                  <a:tcPr/>
                </a:tc>
                <a:tc>
                  <a:txBody>
                    <a:bodyPr/>
                    <a:lstStyle/>
                    <a:p>
                      <a:pPr>
                        <a:defRPr sz="1100"/>
                      </a:pPr>
                      <a:r>
                        <a:t>AI로 조직의 일하는 방식·프로세스 전체를 근본적으로 재설계하는 흐름(단순 자동화 아님)</a:t>
                      </a:r>
                    </a:p>
                  </a:txBody>
                  <a:tcPr/>
                </a:tc>
              </a:tr>
              <a:tr h="365760">
                <a:tc>
                  <a:txBody>
                    <a:bodyPr/>
                    <a:lstStyle/>
                    <a:p>
                      <a:pPr>
                        <a:defRPr sz="1100"/>
                      </a:pPr>
                      <a:r>
                        <a:t>에이전트 경험</a:t>
                      </a:r>
                    </a:p>
                  </a:txBody>
                  <a:tcPr/>
                </a:tc>
                <a:tc>
                  <a:txBody>
                    <a:bodyPr/>
                    <a:lstStyle/>
                    <a:p>
                      <a:pPr>
                        <a:defRPr sz="1100"/>
                      </a:pPr>
                      <a:r>
                        <a:t>사용자가 AI 에이전트와 상호작용하는 방식을 설계하는 UX의 확장</a:t>
                      </a:r>
                    </a:p>
                  </a:txBody>
                  <a:tcPr/>
                </a:tc>
              </a:tr>
              <a:tr h="365760">
                <a:tc>
                  <a:txBody>
                    <a:bodyPr/>
                    <a:lstStyle/>
                    <a:p>
                      <a:pPr>
                        <a:defRPr sz="1100"/>
                      </a:pPr>
                      <a:r>
                        <a:t>UX</a:t>
                      </a:r>
                    </a:p>
                  </a:txBody>
                  <a:tcPr/>
                </a:tc>
                <a:tc>
                  <a:txBody>
                    <a:bodyPr/>
                    <a:lstStyle/>
                    <a:p>
                      <a:pPr>
                        <a:defRPr sz="1100"/>
                      </a:pPr>
                      <a:r>
                        <a:t>User Experience(사용자 경험 설계). AX의 모태 — 대상이 고객에서 조직 구성원으로 확장</a:t>
                      </a:r>
                    </a:p>
                  </a:txBody>
                  <a:tcPr/>
                </a:tc>
              </a:tr>
              <a:tr h="365760">
                <a:tc>
                  <a:txBody>
                    <a:bodyPr/>
                    <a:lstStyle/>
                    <a:p>
                      <a:pPr>
                        <a:defRPr sz="1100"/>
                      </a:pPr>
                      <a:r>
                        <a:t>슈퍼 전문가 / 슈퍼 교사</a:t>
                      </a:r>
                    </a:p>
                  </a:txBody>
                  <a:tcPr/>
                </a:tc>
                <a:tc>
                  <a:txBody>
                    <a:bodyPr/>
                    <a:lstStyle/>
                    <a:p>
                      <a:pPr>
                        <a:defRPr sz="1100"/>
                      </a:pPr>
                      <a:r>
                        <a:t>AI에 대체되는 것이 아니라, AI를 활용해 역량이 증폭된 전문가(교사)</a:t>
                      </a:r>
                    </a:p>
                  </a:txBody>
                  <a:tcPr/>
                </a:tc>
              </a:tr>
              <a:tr h="365760">
                <a:tc>
                  <a:txBody>
                    <a:bodyPr/>
                    <a:lstStyle/>
                    <a:p>
                      <a:pPr>
                        <a:defRPr sz="1100"/>
                      </a:pPr>
                      <a:r>
                        <a:t>도구 과잉</a:t>
                      </a:r>
                    </a:p>
                  </a:txBody>
                  <a:tcPr/>
                </a:tc>
                <a:tc>
                  <a:txBody>
                    <a:bodyPr/>
                    <a:lstStyle/>
                    <a:p>
                      <a:pPr>
                        <a:defRPr sz="1100"/>
                      </a:pPr>
                      <a:r>
                        <a:t>AI 툴이 쏟아져 무엇이 필요한지 판단이 어려워지는 상태 → 중복 도입·의사결정 마비 유발</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참고문헌</a:t>
            </a:r>
          </a:p>
        </p:txBody>
      </p:sp>
      <p:sp>
        <p:nvSpPr>
          <p:cNvPr id="3" name="Content Placeholder 2"/>
          <p:cNvSpPr>
            <a:spLocks noGrp="1"/>
          </p:cNvSpPr>
          <p:nvPr>
            <p:ph idx="1"/>
          </p:nvPr>
        </p:nvSpPr>
        <p:spPr/>
        <p:txBody>
          <a:bodyPr/>
          <a:lstStyle/>
          <a:p>
            <a:pPr>
              <a:defRPr sz="1600"/>
            </a:pPr>
            <a:r>
              <a:t>1. 김예림 (2026). 「'AX 전환'의 시대, 도대체 AX가 뭐길래?」. 한빛출판네트워크 IT북스페셜.</a:t>
            </a:r>
          </a:p>
          <a:p>
            <a:pPr>
              <a:defRPr sz="1600"/>
            </a:pPr>
            <a:r>
              <a:t>2. UNESCO (2023). Guidance for Generative AI in Education and Research (F. Miao &amp; W. Holmes).</a:t>
            </a:r>
          </a:p>
          <a:p>
            <a:pPr>
              <a:defRPr sz="1600"/>
            </a:pPr>
            <a:r>
              <a:t>3. UNESCO (2024). AI Competency Framework for Teachers / for Students.</a:t>
            </a:r>
          </a:p>
          <a:p>
            <a:pPr>
              <a:defRPr sz="1600"/>
            </a:pPr>
            <a:r>
              <a:t>4. Pew Research Center (2025). About a quarter of U.S. teens have used ChatGPT for schoolwork — double the share in 2023.</a:t>
            </a:r>
          </a:p>
          <a:p>
            <a:pPr>
              <a:defRPr sz="1600"/>
            </a:pPr>
            <a:r>
              <a:t>5. Stanford HAI (2025). Artificial Intelligence Index Report 2025.</a:t>
            </a:r>
          </a:p>
          <a:p>
            <a:pPr>
              <a:defRPr sz="1600"/>
            </a:pPr>
            <a:r>
              <a:t>6. OECD (2023). Digital Equity and Inclusion in Education (OECD Education Working Paper No. 299).</a:t>
            </a:r>
          </a:p>
          <a:p>
            <a:pPr>
              <a:defRPr sz="1600"/>
            </a:pPr>
            <a:r>
              <a:t>7. OECD (2024). The Potential Impact of Artificial Intelligence on Equity and Inclusion in Education.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참고문헌 (계속)</a:t>
            </a:r>
          </a:p>
        </p:txBody>
      </p:sp>
      <p:sp>
        <p:nvSpPr>
          <p:cNvPr id="3" name="Content Placeholder 2"/>
          <p:cNvSpPr>
            <a:spLocks noGrp="1"/>
          </p:cNvSpPr>
          <p:nvPr>
            <p:ph idx="1"/>
          </p:nvPr>
        </p:nvSpPr>
        <p:spPr/>
        <p:txBody>
          <a:bodyPr/>
          <a:lstStyle/>
          <a:p>
            <a:pPr>
              <a:defRPr sz="1600"/>
            </a:pPr>
            <a:r>
              <a:t>8. Kofinas, A. K., et al. (2025). The impact of generative AI on academic integrity of authentic assessments within a higher education context. British Journal of Educational Technology.</a:t>
            </a:r>
          </a:p>
          <a:p>
            <a:pPr>
              <a:defRPr sz="1600"/>
            </a:pPr>
            <a:r>
              <a:t>9. Bloom, B. S. (1984). The 2 Sigma Problem. Educational Researcher, 13(6), 4–16.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